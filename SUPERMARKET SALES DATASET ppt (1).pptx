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597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99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703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596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43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487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746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151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3988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25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915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60278E1-9C9F-5FF9-D09F-4FF3642E6E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747474">
                    <a:alpha val="50000"/>
                  </a:srgbClr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1028517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burst of blue and pink">
            <a:extLst>
              <a:ext uri="{FF2B5EF4-FFF2-40B4-BE49-F238E27FC236}">
                <a16:creationId xmlns:a16="http://schemas.microsoft.com/office/drawing/2014/main" id="{F65688BC-FEF2-94E3-9EFD-BED3FE5577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90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20F55-7C23-4963-EEE7-AA059BEA5F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/>
            <a:r>
              <a:rPr lang="en-IN" sz="2800" dirty="0">
                <a:solidFill>
                  <a:schemeClr val="accent5">
                    <a:lumMod val="40000"/>
                    <a:lumOff val="60000"/>
                  </a:schemeClr>
                </a:solidFill>
                <a:latin typeface="Congenial Black" panose="02000503040000020004" pitchFamily="2" charset="0"/>
              </a:rPr>
              <a:t>SUPERMARKET SALES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B1ECA-F7C0-A7C7-9942-8817E78CC0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 fontScale="92500" lnSpcReduction="20000"/>
          </a:bodyPr>
          <a:lstStyle/>
          <a:p>
            <a:pPr algn="r"/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_ Aarthi</a:t>
            </a:r>
          </a:p>
          <a:p>
            <a:pPr algn="r"/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Data analytics batch </a:t>
            </a:r>
            <a:r>
              <a:rPr lang="en-I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sep</a:t>
            </a:r>
            <a:r>
              <a:rPr lang="en-IN" dirty="0">
                <a:solidFill>
                  <a:schemeClr val="accent2">
                    <a:lumMod val="40000"/>
                    <a:lumOff val="60000"/>
                  </a:schemeClr>
                </a:solidFill>
                <a:latin typeface="Algerian" panose="04020705040A02060702" pitchFamily="82" charset="0"/>
              </a:rPr>
              <a:t> 2025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3677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5C2492-1E86-4E93-BA7A-165D4659BFF5}"/>
              </a:ext>
            </a:extLst>
          </p:cNvPr>
          <p:cNvSpPr txBox="1"/>
          <p:nvPr/>
        </p:nvSpPr>
        <p:spPr>
          <a:xfrm>
            <a:off x="2776654" y="367990"/>
            <a:ext cx="5965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latin typeface="Algerian" panose="04020705040A02060702" pitchFamily="82" charset="0"/>
              </a:rPr>
              <a:t>Data Description and Preparation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FD0FCD-2B08-69C2-6CAB-0B17F73A84B4}"/>
              </a:ext>
            </a:extLst>
          </p:cNvPr>
          <p:cNvSpPr txBox="1"/>
          <p:nvPr/>
        </p:nvSpPr>
        <p:spPr>
          <a:xfrm>
            <a:off x="646771" y="1148576"/>
            <a:ext cx="33201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Data Source</a:t>
            </a:r>
            <a:r>
              <a:rPr lang="en-IN" sz="1200" dirty="0">
                <a:latin typeface="Delivery Cd Light" panose="020F0406020204020204" pitchFamily="34" charset="0"/>
                <a:ea typeface="Delivery Cd Light" panose="020F0406020204020204" pitchFamily="34" charset="0"/>
                <a:cs typeface="Delivery Cd Light" panose="020F0406020204020204" pitchFamily="34" charset="0"/>
              </a:rPr>
              <a:t>:   </a:t>
            </a:r>
            <a:r>
              <a:rPr lang="en-IN" sz="1200" dirty="0">
                <a:solidFill>
                  <a:schemeClr val="accent1"/>
                </a:solidFill>
                <a:latin typeface="Delivery Cd Light" panose="020F0406020204020204" pitchFamily="34" charset="0"/>
                <a:ea typeface="Delivery Cd Light" panose="020F0406020204020204" pitchFamily="34" charset="0"/>
                <a:cs typeface="Delivery Cd Light" panose="020F0406020204020204" pitchFamily="34" charset="0"/>
              </a:rPr>
              <a:t>Kaggle Supermarket Sales Dataset</a:t>
            </a:r>
            <a:r>
              <a:rPr lang="en-IN" sz="1200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8EFB0-2E52-EDD8-DC9D-8DF52CA22582}"/>
              </a:ext>
            </a:extLst>
          </p:cNvPr>
          <p:cNvSpPr txBox="1"/>
          <p:nvPr/>
        </p:nvSpPr>
        <p:spPr>
          <a:xfrm>
            <a:off x="780585" y="1583473"/>
            <a:ext cx="86446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Dataset Overview: </a:t>
            </a:r>
            <a:r>
              <a:rPr lang="en-IN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Narrow" panose="020B0004020202020204" pitchFamily="34" charset="0"/>
              </a:rPr>
              <a:t>5054rows, 9 columns (Date, Branch ,Gender ,Product line, Customer type, Unit price, </a:t>
            </a:r>
            <a:r>
              <a:rPr lang="en-IN" sz="1200" b="1" dirty="0" err="1">
                <a:solidFill>
                  <a:schemeClr val="tx2">
                    <a:lumMod val="50000"/>
                    <a:lumOff val="50000"/>
                  </a:schemeClr>
                </a:solidFill>
                <a:latin typeface="Aptos Narrow" panose="020B0004020202020204" pitchFamily="34" charset="0"/>
              </a:rPr>
              <a:t>Quantity,Payment</a:t>
            </a:r>
            <a:r>
              <a:rPr lang="en-IN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Aptos Narrow" panose="020B0004020202020204" pitchFamily="34" charset="0"/>
              </a:rPr>
              <a:t>, Rating</a:t>
            </a:r>
            <a:r>
              <a:rPr lang="en-IN" sz="1200" b="1" dirty="0"/>
              <a:t>)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4A9958-9F46-B14A-46F5-B99963C84122}"/>
              </a:ext>
            </a:extLst>
          </p:cNvPr>
          <p:cNvSpPr txBox="1"/>
          <p:nvPr/>
        </p:nvSpPr>
        <p:spPr>
          <a:xfrm>
            <a:off x="869795" y="2018371"/>
            <a:ext cx="281198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IN" sz="1200" b="1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Date Cleaning: 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 Removed duplicates.(None  found</a:t>
            </a:r>
            <a:r>
              <a:rPr lang="en-IN" sz="1200" b="1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)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en-IN" sz="1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Delivery Cd Light" panose="020F0406020204020204" pitchFamily="34" charset="0"/>
                <a:ea typeface="Delivery Cd Light" panose="020F0406020204020204" pitchFamily="34" charset="0"/>
                <a:cs typeface="Delivery Cd Light" panose="020F0406020204020204" pitchFamily="34" charset="0"/>
              </a:rPr>
              <a:t>Applied Currency Formatting.</a:t>
            </a:r>
          </a:p>
        </p:txBody>
      </p:sp>
      <p:pic>
        <p:nvPicPr>
          <p:cNvPr id="11" name="Picture 10" descr="A table of information with text&#10;&#10;AI-generated content may be incorrect.">
            <a:extLst>
              <a:ext uri="{FF2B5EF4-FFF2-40B4-BE49-F238E27FC236}">
                <a16:creationId xmlns:a16="http://schemas.microsoft.com/office/drawing/2014/main" id="{7A8778DD-1E30-BBE0-113C-9D51598A9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51" y="2756587"/>
            <a:ext cx="5547070" cy="3657600"/>
          </a:xfrm>
          <a:prstGeom prst="rect">
            <a:avLst/>
          </a:prstGeom>
        </p:spPr>
      </p:pic>
      <p:pic>
        <p:nvPicPr>
          <p:cNvPr id="13" name="Picture 12" descr="A screenshot of a table&#10;&#10;AI-generated content may be incorrect.">
            <a:extLst>
              <a:ext uri="{FF2B5EF4-FFF2-40B4-BE49-F238E27FC236}">
                <a16:creationId xmlns:a16="http://schemas.microsoft.com/office/drawing/2014/main" id="{7C30E7F2-B6E4-15DC-122E-F3007F224E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078" y="2664701"/>
            <a:ext cx="5374888" cy="37494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002BF0-D221-4A3E-BDD1-84409187403D}"/>
              </a:ext>
            </a:extLst>
          </p:cNvPr>
          <p:cNvSpPr txBox="1"/>
          <p:nvPr/>
        </p:nvSpPr>
        <p:spPr>
          <a:xfrm>
            <a:off x="1784195" y="6623824"/>
            <a:ext cx="893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RAW DATA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85167D-45FB-8D3E-95F2-FC407E4BCA9F}"/>
              </a:ext>
            </a:extLst>
          </p:cNvPr>
          <p:cNvSpPr txBox="1"/>
          <p:nvPr/>
        </p:nvSpPr>
        <p:spPr>
          <a:xfrm>
            <a:off x="8742556" y="6623824"/>
            <a:ext cx="101662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CLEAN DATA</a:t>
            </a:r>
          </a:p>
        </p:txBody>
      </p:sp>
      <p:sp>
        <p:nvSpPr>
          <p:cNvPr id="17" name="Arrow: Curved Down 16">
            <a:extLst>
              <a:ext uri="{FF2B5EF4-FFF2-40B4-BE49-F238E27FC236}">
                <a16:creationId xmlns:a16="http://schemas.microsoft.com/office/drawing/2014/main" id="{58E6DBF2-67FA-1D4B-A6A5-A4A1AF8FCD1B}"/>
              </a:ext>
            </a:extLst>
          </p:cNvPr>
          <p:cNvSpPr/>
          <p:nvPr/>
        </p:nvSpPr>
        <p:spPr>
          <a:xfrm>
            <a:off x="5475249" y="2163337"/>
            <a:ext cx="1216152" cy="501364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3088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E5CDA1A-0114-C42D-9875-3B6A31E79094}"/>
              </a:ext>
            </a:extLst>
          </p:cNvPr>
          <p:cNvSpPr txBox="1"/>
          <p:nvPr/>
        </p:nvSpPr>
        <p:spPr>
          <a:xfrm>
            <a:off x="3668751" y="468351"/>
            <a:ext cx="36806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Engravers MT" panose="02090707080505020304" pitchFamily="18" charset="0"/>
              </a:rPr>
              <a:t>Formula and Calculation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D1E7AB-052F-69A2-5A3B-D02E5EA3F81A}"/>
              </a:ext>
            </a:extLst>
          </p:cNvPr>
          <p:cNvSpPr txBox="1"/>
          <p:nvPr/>
        </p:nvSpPr>
        <p:spPr>
          <a:xfrm>
            <a:off x="858644" y="1527717"/>
            <a:ext cx="1091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Calculation: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FE74C1-3FC4-9EB8-4657-3DB78EED1E0B}"/>
              </a:ext>
            </a:extLst>
          </p:cNvPr>
          <p:cNvSpPr txBox="1"/>
          <p:nvPr/>
        </p:nvSpPr>
        <p:spPr>
          <a:xfrm>
            <a:off x="1382751" y="2040673"/>
            <a:ext cx="25715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chemeClr val="accent3"/>
                </a:solidFill>
                <a:latin typeface="Delivery Cd Light" panose="020F0406020204020204" pitchFamily="34" charset="0"/>
                <a:ea typeface="Delivery Cd Light" panose="020F0406020204020204" pitchFamily="34" charset="0"/>
                <a:cs typeface="Delivery Cd Light" panose="020F0406020204020204" pitchFamily="34" charset="0"/>
              </a:rPr>
              <a:t>Revenue :( sum(unit price* Quantity)). </a:t>
            </a:r>
          </a:p>
        </p:txBody>
      </p:sp>
      <p:pic>
        <p:nvPicPr>
          <p:cNvPr id="7" name="Picture 6" descr="A screenshot of a graph&#10;&#10;AI-generated content may be incorrect.">
            <a:extLst>
              <a:ext uri="{FF2B5EF4-FFF2-40B4-BE49-F238E27FC236}">
                <a16:creationId xmlns:a16="http://schemas.microsoft.com/office/drawing/2014/main" id="{48199F30-0919-B8B4-B689-9625783B8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2067" y="1527717"/>
            <a:ext cx="4093943" cy="15091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E3A2E7-673A-913F-6200-B9FC06D41AA0}"/>
              </a:ext>
            </a:extLst>
          </p:cNvPr>
          <p:cNvSpPr txBox="1"/>
          <p:nvPr/>
        </p:nvSpPr>
        <p:spPr>
          <a:xfrm>
            <a:off x="858644" y="3736106"/>
            <a:ext cx="8867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Formula</a:t>
            </a:r>
            <a:r>
              <a:rPr lang="en-IN" sz="1600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2FA3B6-1B37-2B65-FFDB-ADD8CCA86A5B}"/>
              </a:ext>
            </a:extLst>
          </p:cNvPr>
          <p:cNvSpPr txBox="1"/>
          <p:nvPr/>
        </p:nvSpPr>
        <p:spPr>
          <a:xfrm>
            <a:off x="1344076" y="4401829"/>
            <a:ext cx="20954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chemeClr val="accent3"/>
                </a:solidFill>
                <a:latin typeface="Delivery Cd Light" panose="020F0406020204020204" pitchFamily="34" charset="0"/>
                <a:ea typeface="Delivery Cd Light" panose="020F0406020204020204" pitchFamily="34" charset="0"/>
                <a:cs typeface="Delivery Cd Light" panose="020F0406020204020204" pitchFamily="34" charset="0"/>
              </a:rPr>
              <a:t>IF CONDITION and XLOOKUP.</a:t>
            </a:r>
          </a:p>
        </p:txBody>
      </p:sp>
      <p:pic>
        <p:nvPicPr>
          <p:cNvPr id="11" name="Picture 10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8368B331-C081-C664-C0D0-A9B1D9329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8602" y="3245005"/>
            <a:ext cx="1667108" cy="2722219"/>
          </a:xfrm>
          <a:prstGeom prst="rect">
            <a:avLst/>
          </a:prstGeom>
        </p:spPr>
      </p:pic>
      <p:pic>
        <p:nvPicPr>
          <p:cNvPr id="13" name="Picture 12" descr="A screenshot of a table&#10;&#10;AI-generated content may be incorrect.">
            <a:extLst>
              <a:ext uri="{FF2B5EF4-FFF2-40B4-BE49-F238E27FC236}">
                <a16:creationId xmlns:a16="http://schemas.microsoft.com/office/drawing/2014/main" id="{1BC9B846-4540-CEAD-DCF6-ED845E770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416" y="5121067"/>
            <a:ext cx="3648584" cy="84784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AA198F9-AA92-F843-DB0E-41B3F40C98E5}"/>
              </a:ext>
            </a:extLst>
          </p:cNvPr>
          <p:cNvSpPr txBox="1"/>
          <p:nvPr/>
        </p:nvSpPr>
        <p:spPr>
          <a:xfrm>
            <a:off x="10437542" y="3689939"/>
            <a:ext cx="162095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FF0000"/>
                </a:solidFill>
                <a:latin typeface="Aptos Narrow" panose="020B0004020202020204" pitchFamily="34" charset="0"/>
              </a:rPr>
              <a:t>Rating segmentation: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FF0000"/>
                </a:solidFill>
                <a:latin typeface="Aptos Narrow" panose="020B0004020202020204" pitchFamily="34" charset="0"/>
              </a:rPr>
              <a:t>Excellent: Rating 9-10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FF0000"/>
                </a:solidFill>
                <a:latin typeface="Aptos Narrow" panose="020B0004020202020204" pitchFamily="34" charset="0"/>
              </a:rPr>
              <a:t>Good: Rating 7-8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rgbClr val="FF0000"/>
                </a:solidFill>
                <a:latin typeface="Aptos Narrow" panose="020B0004020202020204" pitchFamily="34" charset="0"/>
              </a:rPr>
              <a:t>Average: Rating &lt;6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B004C9-16AF-8527-D542-E90101404061}"/>
              </a:ext>
            </a:extLst>
          </p:cNvPr>
          <p:cNvSpPr txBox="1"/>
          <p:nvPr/>
        </p:nvSpPr>
        <p:spPr>
          <a:xfrm>
            <a:off x="2720898" y="6333893"/>
            <a:ext cx="28184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100" b="1" dirty="0">
                <a:solidFill>
                  <a:srgbClr val="FF0000"/>
                </a:solidFill>
                <a:latin typeface="Aptos Narrow" panose="020B0004020202020204" pitchFamily="34" charset="0"/>
              </a:rPr>
              <a:t>Fetch GENDER/CUSTOMER TYPE for a branch</a:t>
            </a:r>
            <a:r>
              <a:rPr lang="en-IN" sz="1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36515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E40FE0-7E0A-3637-DCF3-65F244A67506}"/>
              </a:ext>
            </a:extLst>
          </p:cNvPr>
          <p:cNvSpPr txBox="1"/>
          <p:nvPr/>
        </p:nvSpPr>
        <p:spPr>
          <a:xfrm>
            <a:off x="4187607" y="446049"/>
            <a:ext cx="325922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i="1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WHAT-IF ANALYSIS and GOAL SEEK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56F9E-FE1B-44DA-E0CB-B24133BD68DF}"/>
              </a:ext>
            </a:extLst>
          </p:cNvPr>
          <p:cNvSpPr txBox="1"/>
          <p:nvPr/>
        </p:nvSpPr>
        <p:spPr>
          <a:xfrm>
            <a:off x="814039" y="1405054"/>
            <a:ext cx="16482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SCENARIO SUMMARY: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B31DEC-0ADF-6C7F-3909-AB44030B832D}"/>
              </a:ext>
            </a:extLst>
          </p:cNvPr>
          <p:cNvSpPr txBox="1"/>
          <p:nvPr/>
        </p:nvSpPr>
        <p:spPr>
          <a:xfrm>
            <a:off x="1728439" y="2107580"/>
            <a:ext cx="47050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Goal:</a:t>
            </a:r>
          </a:p>
          <a:p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               Evaluate how changing unit price affects Total revenue</a:t>
            </a:r>
            <a:r>
              <a:rPr lang="en-IN" sz="1400" dirty="0"/>
              <a:t>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CE6E6B-D10D-89DD-4597-54E94DC7C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990" y="1170878"/>
            <a:ext cx="4493941" cy="29216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B799366-ECBC-79D0-D875-8C5F9A98E559}"/>
              </a:ext>
            </a:extLst>
          </p:cNvPr>
          <p:cNvSpPr txBox="1"/>
          <p:nvPr/>
        </p:nvSpPr>
        <p:spPr>
          <a:xfrm>
            <a:off x="925551" y="3847171"/>
            <a:ext cx="10871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GOAL SEEK</a:t>
            </a:r>
            <a:r>
              <a:rPr lang="en-IN" sz="1600" dirty="0"/>
              <a:t>:</a:t>
            </a:r>
          </a:p>
        </p:txBody>
      </p:sp>
      <p:pic>
        <p:nvPicPr>
          <p:cNvPr id="9" name="Picture 8" descr="A screenshot of a spreadsheet&#10;&#10;AI-generated content may be incorrect.">
            <a:extLst>
              <a:ext uri="{FF2B5EF4-FFF2-40B4-BE49-F238E27FC236}">
                <a16:creationId xmlns:a16="http://schemas.microsoft.com/office/drawing/2014/main" id="{B5D01201-DBF2-5AB7-1AB5-DFDE785D99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6741" y="4518025"/>
            <a:ext cx="3523786" cy="197600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3EE32A1-C875-8460-538A-17C933026ECB}"/>
              </a:ext>
            </a:extLst>
          </p:cNvPr>
          <p:cNvSpPr txBox="1"/>
          <p:nvPr/>
        </p:nvSpPr>
        <p:spPr>
          <a:xfrm>
            <a:off x="1304693" y="4256415"/>
            <a:ext cx="3262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Achieving target sales (</a:t>
            </a:r>
            <a:r>
              <a:rPr lang="en-IN" sz="1200" b="1" dirty="0" err="1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avg.Target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 Adjustment</a:t>
            </a:r>
            <a:r>
              <a:rPr lang="en-IN" sz="12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4588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2FCF86-5BF4-6C45-399C-7B4D37CE72C5}"/>
              </a:ext>
            </a:extLst>
          </p:cNvPr>
          <p:cNvSpPr txBox="1"/>
          <p:nvPr/>
        </p:nvSpPr>
        <p:spPr>
          <a:xfrm>
            <a:off x="4059044" y="702527"/>
            <a:ext cx="3807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Engravers MT" panose="02090707080505020304" pitchFamily="18" charset="0"/>
              </a:rPr>
              <a:t>DASHBOARD OVERVIEW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1875D2D-CCBB-588C-0052-DB94321B1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4817" y="3133344"/>
            <a:ext cx="8402366" cy="357223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6541A6-EEC5-FA04-93BB-23B7ABA396F2}"/>
              </a:ext>
            </a:extLst>
          </p:cNvPr>
          <p:cNvSpPr txBox="1"/>
          <p:nvPr/>
        </p:nvSpPr>
        <p:spPr>
          <a:xfrm>
            <a:off x="1894817" y="1511808"/>
            <a:ext cx="5904117" cy="13696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Rating split by Date-see how satisfaction moves over time.</a:t>
            </a:r>
          </a:p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Average Rating by customer type and gender- spot which segment is happiest.</a:t>
            </a:r>
          </a:p>
          <a:p>
            <a:pPr marL="171450" indent="-1714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Unit price by Branch and payment method-check where revenue and payment mix differ.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299240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98D295-19BD-F1B8-8B2F-0E2C2E1353B6}"/>
              </a:ext>
            </a:extLst>
          </p:cNvPr>
          <p:cNvSpPr txBox="1"/>
          <p:nvPr/>
        </p:nvSpPr>
        <p:spPr>
          <a:xfrm>
            <a:off x="4059044" y="724829"/>
            <a:ext cx="4105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i="1" dirty="0">
                <a:latin typeface="Engravers MT" panose="02090707080505020304" pitchFamily="18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Macros and Automatic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49105D-3204-AA52-E4EA-4A7DE9B6A30B}"/>
              </a:ext>
            </a:extLst>
          </p:cNvPr>
          <p:cNvSpPr txBox="1"/>
          <p:nvPr/>
        </p:nvSpPr>
        <p:spPr>
          <a:xfrm>
            <a:off x="1170878" y="1449658"/>
            <a:ext cx="1082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Aptos Narrow" panose="020B0004020202020204" pitchFamily="34" charset="0"/>
              </a:rPr>
              <a:t>Macro used</a:t>
            </a:r>
            <a:r>
              <a:rPr lang="en-IN" sz="1400" dirty="0"/>
              <a:t>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AEA2F1-580C-0FA2-DE08-715E45C964E2}"/>
              </a:ext>
            </a:extLst>
          </p:cNvPr>
          <p:cNvSpPr txBox="1"/>
          <p:nvPr/>
        </p:nvSpPr>
        <p:spPr>
          <a:xfrm>
            <a:off x="1207397" y="1906859"/>
            <a:ext cx="57032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Aptos Narrow" panose="020B0004020202020204" pitchFamily="34" charset="0"/>
              </a:rPr>
              <a:t>Format sheet:  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Applied formatting ( Conditional formatting , Greater then &amp; less then</a:t>
            </a:r>
            <a:r>
              <a:rPr lang="en-IN" sz="1400" dirty="0">
                <a:latin typeface="Aptos Narrow" panose="020B0004020202020204" pitchFamily="34" charset="0"/>
              </a:rPr>
              <a:t>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796C8E-4015-CDFE-600C-80B829227E44}"/>
              </a:ext>
            </a:extLst>
          </p:cNvPr>
          <p:cNvSpPr txBox="1"/>
          <p:nvPr/>
        </p:nvSpPr>
        <p:spPr>
          <a:xfrm>
            <a:off x="1294757" y="2262356"/>
            <a:ext cx="29857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latin typeface="Aptos Narrow" panose="020B0004020202020204" pitchFamily="34" charset="0"/>
              </a:rPr>
              <a:t>BENEFITS</a:t>
            </a:r>
            <a:r>
              <a:rPr lang="en-IN" sz="1400" dirty="0"/>
              <a:t>:   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Saves </a:t>
            </a:r>
            <a:r>
              <a:rPr lang="en-IN" sz="1200" b="1" dirty="0" err="1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time,Ensure</a:t>
            </a:r>
            <a:r>
              <a:rPr lang="en-IN" sz="12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 consistency</a:t>
            </a:r>
            <a:r>
              <a:rPr lang="en-IN" sz="1400" dirty="0"/>
              <a:t>.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248A4F-115B-76E9-87A0-0257C94CC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044" y="2877014"/>
            <a:ext cx="7817005" cy="3746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535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4BF03-4FBF-12BB-43CA-0D0C665ECB27}"/>
              </a:ext>
            </a:extLst>
          </p:cNvPr>
          <p:cNvSpPr txBox="1"/>
          <p:nvPr/>
        </p:nvSpPr>
        <p:spPr>
          <a:xfrm>
            <a:off x="640080" y="914399"/>
            <a:ext cx="10847494" cy="11710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000" b="1" i="1">
                <a:latin typeface="+mj-lt"/>
                <a:ea typeface="+mj-ea"/>
                <a:cs typeface="+mj-cs"/>
              </a:rPr>
              <a:t>POWER PIVOT</a:t>
            </a:r>
          </a:p>
        </p:txBody>
      </p:sp>
      <p:pic>
        <p:nvPicPr>
          <p:cNvPr id="5" name="Picture 4" descr="A screenshot of a diagram&#10;&#10;AI-generated content may be incorrect.">
            <a:extLst>
              <a:ext uri="{FF2B5EF4-FFF2-40B4-BE49-F238E27FC236}">
                <a16:creationId xmlns:a16="http://schemas.microsoft.com/office/drawing/2014/main" id="{366E347A-91FB-7804-F6F7-5F9ADDF6E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3" r="2864" b="-1"/>
          <a:stretch>
            <a:fillRect/>
          </a:stretch>
        </p:blipFill>
        <p:spPr>
          <a:xfrm>
            <a:off x="713232" y="2256287"/>
            <a:ext cx="5316771" cy="37604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01CDBB-E7A5-D4DC-0E08-A8B08D95C71C}"/>
              </a:ext>
            </a:extLst>
          </p:cNvPr>
          <p:cNvSpPr txBox="1"/>
          <p:nvPr/>
        </p:nvSpPr>
        <p:spPr>
          <a:xfrm>
            <a:off x="6915150" y="2256287"/>
            <a:ext cx="4563618" cy="37604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/>
              <a:t>I created these two power pivot tables to bring together.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/>
              <a:t>Product-level financial and satisfaction metrics(unit price,quantity,rating)</a:t>
            </a:r>
          </a:p>
          <a:p>
            <a:pPr marL="285750" indent="-285750">
              <a:lnSpc>
                <a:spcPct val="120000"/>
              </a:lnSpc>
              <a:spcAft>
                <a:spcPts val="600"/>
              </a:spcAft>
              <a:buSzPct val="87000"/>
              <a:buFont typeface="Arial" panose="020B0604020202020204" pitchFamily="34" charset="0"/>
              <a:buChar char="•"/>
            </a:pPr>
            <a:r>
              <a:rPr lang="en-US" b="1"/>
              <a:t>Branch-level contextual data(customer type,payment method).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EA0F4A6-3CC9-C9E2-BA02-58FA29F7D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121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CFB238-7ECB-645B-5F89-B001875B2B00}"/>
              </a:ext>
            </a:extLst>
          </p:cNvPr>
          <p:cNvSpPr txBox="1"/>
          <p:nvPr/>
        </p:nvSpPr>
        <p:spPr>
          <a:xfrm>
            <a:off x="3914078" y="490653"/>
            <a:ext cx="5627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>
                <a:latin typeface="Engravers MT" panose="02090707080505020304" pitchFamily="18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INSIGHTS AND RECOMMENDATIONS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09501E-55D2-E0B9-DCF8-32E3E6974ADA}"/>
              </a:ext>
            </a:extLst>
          </p:cNvPr>
          <p:cNvSpPr txBox="1"/>
          <p:nvPr/>
        </p:nvSpPr>
        <p:spPr>
          <a:xfrm>
            <a:off x="1126273" y="1672683"/>
            <a:ext cx="764183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INSIGHTS</a:t>
            </a:r>
            <a:r>
              <a:rPr lang="en-IN" sz="1400" dirty="0"/>
              <a:t>:</a:t>
            </a:r>
          </a:p>
          <a:p>
            <a:pPr marL="285750" indent="-285750" algn="ctr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   Branch B has the highest unit price($93)but lower Quantity ,pulling down overall volume.</a:t>
            </a:r>
          </a:p>
          <a:p>
            <a:pPr marL="285750" indent="-285750" algn="ctr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latin typeface="Aptos Narrow" panose="020B0004020202020204" pitchFamily="34" charset="0"/>
              </a:rPr>
              <a:t>Member customers(corporate/Retails)gives 12% higher average rating across all branches.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IN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5B673D-4D7D-57A1-51E2-25B02E71352B}"/>
              </a:ext>
            </a:extLst>
          </p:cNvPr>
          <p:cNvSpPr txBox="1"/>
          <p:nvPr/>
        </p:nvSpPr>
        <p:spPr>
          <a:xfrm>
            <a:off x="959005" y="3275111"/>
            <a:ext cx="8432117" cy="1113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Recommendation: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     Introduce premium product bundles in branch B </a:t>
            </a:r>
            <a:r>
              <a:rPr lang="en-IN" sz="1400" b="1" dirty="0" err="1">
                <a:solidFill>
                  <a:schemeClr val="bg2">
                    <a:lumMod val="50000"/>
                  </a:schemeClr>
                </a:solidFill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toboost</a:t>
            </a:r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 margin while keeping volume stable.</a:t>
            </a: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IN" sz="1400" b="1" dirty="0">
                <a:solidFill>
                  <a:schemeClr val="bg2">
                    <a:lumMod val="50000"/>
                  </a:schemeClr>
                </a:solidFill>
                <a:latin typeface="Delivery Cd Black" panose="020F0906020204020204" pitchFamily="34" charset="0"/>
                <a:ea typeface="Delivery Cd Black" panose="020F0906020204020204" pitchFamily="34" charset="0"/>
                <a:cs typeface="Delivery Cd Black" panose="020F0906020204020204" pitchFamily="34" charset="0"/>
              </a:rPr>
              <a:t>Launch a quick membership push in low-rating branches(B&amp;D)with a 5%first purchase discount.       </a:t>
            </a:r>
          </a:p>
        </p:txBody>
      </p:sp>
    </p:spTree>
    <p:extLst>
      <p:ext uri="{BB962C8B-B14F-4D97-AF65-F5344CB8AC3E}">
        <p14:creationId xmlns:p14="http://schemas.microsoft.com/office/powerpoint/2010/main" val="10399732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3C1B95-FC1E-87EF-F538-EE02A3DE18CD}"/>
              </a:ext>
            </a:extLst>
          </p:cNvPr>
          <p:cNvSpPr txBox="1"/>
          <p:nvPr/>
        </p:nvSpPr>
        <p:spPr>
          <a:xfrm>
            <a:off x="4154603" y="2356030"/>
            <a:ext cx="3882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dirty="0">
                <a:latin typeface="Engravers MT" panose="020907070805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3519394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333</Words>
  <Application>Microsoft Office PowerPoint</Application>
  <PresentationFormat>Widescreen</PresentationFormat>
  <Paragraphs>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1" baseType="lpstr">
      <vt:lpstr>Algerian</vt:lpstr>
      <vt:lpstr>Aptos Narrow</vt:lpstr>
      <vt:lpstr>Arial</vt:lpstr>
      <vt:lpstr>Congenial Black</vt:lpstr>
      <vt:lpstr>Courier New</vt:lpstr>
      <vt:lpstr>Delivery</vt:lpstr>
      <vt:lpstr>Delivery Cd Black</vt:lpstr>
      <vt:lpstr>Delivery Cd Light</vt:lpstr>
      <vt:lpstr>Engravers MT</vt:lpstr>
      <vt:lpstr>Grandview Display</vt:lpstr>
      <vt:lpstr>Wingdings</vt:lpstr>
      <vt:lpstr>DashVTI</vt:lpstr>
      <vt:lpstr>SUPERMARKET SALES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 AARTHI P AARTHI (DHL eCom Blue Dart IN), external</dc:creator>
  <cp:lastModifiedBy>P AARTHI P AARTHI (DHL eCom Blue Dart IN), external</cp:lastModifiedBy>
  <cp:revision>1</cp:revision>
  <dcterms:created xsi:type="dcterms:W3CDTF">2025-12-01T07:12:56Z</dcterms:created>
  <dcterms:modified xsi:type="dcterms:W3CDTF">2025-12-01T11:48:38Z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DashVTI:8</vt:lpwstr>
  </property>
  <property fmtid="{D5CDD505-2E9C-101B-9397-08002B2CF9AE}" pid="3" name="ClassificationContentMarkingHeaderText">
    <vt:lpwstr>FOR INTERNAL USE</vt:lpwstr>
  </property>
</Properties>
</file>